
<file path=[Content_Types].xml><?xml version="1.0" encoding="utf-8"?>
<Types xmlns="http://schemas.openxmlformats.org/package/2006/content-types">
  <Default Extension="doc" ContentType="application/msword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4" r:id="rId9"/>
    <p:sldId id="265" r:id="rId10"/>
  </p:sldIdLst>
  <p:sldSz cx="6858000" cy="9144000" type="screen4x3"/>
  <p:notesSz cx="68580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0" autoAdjust="0"/>
    <p:restoredTop sz="94660"/>
  </p:normalViewPr>
  <p:slideViewPr>
    <p:cSldViewPr>
      <p:cViewPr>
        <p:scale>
          <a:sx n="73" d="100"/>
          <a:sy n="73" d="100"/>
        </p:scale>
        <p:origin x="206" y="-26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01:41:43.3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877 1,'-42'0,"1"3,1 1,-1 1,1 3,-51 16,-159 37,73-22,50-7,99-24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01:41:44.3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938 1,'-27'1,"0"2,-41 9,37-6,-44 4,-104 6,-68 2,173-16,-98 14,135-10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01:41:45.3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1241 65,'-786'-19,"707"13,-205-22,219 19,39 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01:41:49.7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0,'3488'0,"-3078"23,-260-12,10 4,107 3,394-17,-296-3,-330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01:41:52.6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66,'152'-13,"-34"1,268 4,493 51,95 14,-575-38,404-7,-627-13,133 18,-53-1,263 19,-136-5,-190-19,394 13,-226-9,-3 2,1021-19,-1334 0,66-12,24-1,166-18,-188 17,122-2,-126 18,210-11,-236 1,163-22,-170 19,-5 0,123-6,20 0,-99 6,102-17,9-2,-91 16,-66 7,85-2,41 13,-167-2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4T01:41:54.5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1,'1164'0,"-776"22,-264-12,-14-1,317 16,665-25,-488-2,-576 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8:40:13.2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827 0 24575,'-11'1'0,"0"1"0,0 0 0,0 0 0,1 1 0,-12 5 0,0 0 0,-315 110 0,299-103 0,1 1 0,0 1 0,2 3 0,-43 29 0,66-41 0,1 1 0,0 1 0,0 0 0,1 0 0,0 1 0,1 0 0,0 1 0,1-1 0,1 2 0,-1-1 0,2 1 0,0 0 0,0 1 0,2-1 0,-6 22 0,-5 88 0,5 1 0,7 151 0,3-169 0,17 1509 0,-25-264 0,-1-275 0,10-704 0,2-328 0,1 0 0,20 81 0,4 34 0,-5 2 0,-17-136 0,0 0 0,2 0 0,1-1 0,15 31 0,-19-47 0,1 0 0,1 0 0,-1 0 0,1-1 0,0 0 0,1-1 0,0 1 0,0-1 0,0-1 0,1 0 0,-1 0 0,1 0 0,0-1 0,1-1 0,10 4 0,12 2 0,0-1 0,0-2 0,43 3 0,114 8 0,-12-9-1365,-159-8-5461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8:40:20.0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24575,'15'1'0,"-1"0"0,26 7 0,15 1 0,61-6 0,-75-4 0,0 2 0,71 12 0,-108-12 0,0 0 0,0 0 0,-1 0 0,1 1 0,-1-1 0,1 1 0,-1 0 0,0 0 0,0 0 0,0 1 0,0-1 0,0 1 0,0-1 0,-1 1 0,1 0 0,-1 0 0,1 0 0,-1 1 0,0-1 0,-1 0 0,1 1 0,2 5 0,0 6 0,-1 0 0,0 1 0,0-1 0,-1 22 0,1-6 0,80 608 0,-13-115 0,-21 230 0,-48 5 0,-4-356 0,3-297 0,20 682 0,3 174 0,-24-739 0,12-31 0,-1-17 0,-10 322 0,0-494 0,0 0 0,0 0 0,0 0 0,0 0 0,-1 0 0,0 0 0,1 0 0,-1 0 0,0-1 0,0 1 0,-1 0 0,1 0 0,0-1 0,-1 1 0,0-1 0,1 1 0,-1-1 0,-4 4 0,1-3 0,1 0 0,0-1 0,-1 1 0,0-1 0,1 0 0,-1 0 0,0-1 0,0 0 0,0 1 0,-8-1 0,-60 6 0,0-3 0,-87-7 0,30 0 0,-85 3-1365,192 0-5461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8:40:23.1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1227 24575,'128'-297'0,"22"-42"0,83-39 0,-145 244 0,-83 126 0,0-1 0,0 0 0,2 0 0,-1 1 0,1 0 0,0 0 0,9-8 0,-15 16 0,0 0 0,-1-1 0,1 1 0,-1 0 0,1-1 0,0 1 0,-1 0 0,1 0 0,0-1 0,-1 1 0,1 0 0,0 0 0,0 0 0,-1 0 0,1 0 0,0 0 0,-1 0 0,1 0 0,0 0 0,-1 0 0,1 1 0,0-1 0,-1 0 0,1 0 0,0 1 0,-1-1 0,1 0 0,0 1 0,-1-1 0,1 1 0,-1-1 0,1 1 0,-1-1 0,1 1 0,-1-1 0,1 1 0,-1-1 0,0 1 0,1 0 0,-1-1 0,1 2 0,12 32 0,-12-31 0,90 418 0,-58-247 0,34 130-1365,-64-290-5461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8:40:23.9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22 24575,'4'0'0,"7"0"0,11 0 0,7 0 0,11 0 0,12-4 0,4-1 0,1 1 0,-6 0 0,-9 1 0,-11 1-8191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8:40:24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24575,'7'0'0,"7"0"0,7 0 0,15 0 0,12 0 0,8 0 0,3 0 0,1 0 0,-2 0 0,-7 0 0,-5 0 0,-7 0 0,-3 0 0,-4 0 0,0 0 0,-2 0 0,-6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18:40:24.9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24575,'7'0'0,"10"0"0,13 0 0,12 0 0,9 0 0,7 0 0,5 0 0,-1 0 0,-8 0 0,-6 0 0,-8 0 0,-6 0 0,-6 0 0,-4 0 0,-6 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13T20:43:09.1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 0,'5207'0'0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3T20:43:22.0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1,'241'11,"-6"1,-79-14,129 4,-174 7,61 3,841-13,-872-10,5 0,1099 12,-1221-2,1-2,24-4,-25 2,47-2,98 8,-143-1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038"/>
            <a:ext cx="5829300" cy="1960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125A82B-2CCF-464E-91C1-C2331CDBA5A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4E3288B-9524-4753-B7CB-1A7EABF3DD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1CDB50-91A3-46F3-89B9-1625B4AD17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4B70BB-8141-42C8-8C99-8154A0B694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694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A352CC2-7A15-453A-8A90-1F38E659B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FAF9D89-D6A0-44FB-B1F4-25AA5E7B146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0E09AB-3569-46C7-970E-7400B31AED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C68D6E-CE00-4CFF-97B8-35784329E3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1529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338" y="587533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338" y="3875088"/>
            <a:ext cx="5829300" cy="20002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AA8AC3-8641-4349-901B-71EBF912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70D7D54-C431-45F7-A332-5F0286C9B7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5FC0BE-BDCC-4B7C-9C5B-908B581625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6FCEB6-4B09-47DD-9333-5A2E73C476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556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200" y="2641600"/>
            <a:ext cx="283845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ED5431-C216-478F-AD06-B324F4216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73BD0F-AEFB-4A07-A2F0-D4229A319F5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70E720-1A03-4226-9F7D-49154454FF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7FEC9-1941-4731-991F-A7E988AAB93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7114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6713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288"/>
            <a:ext cx="3030538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900363"/>
            <a:ext cx="3030538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4563" y="2046288"/>
            <a:ext cx="3030537" cy="8540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4563" y="2900363"/>
            <a:ext cx="3030537" cy="52673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722A30-726A-4684-899A-C9BAAEFAA4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3E954E49-D61A-48C7-B3E1-87D24A550C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D96845-8722-40D1-B7B6-19DA62CC0B0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A5AFD-52C1-4DA4-AA98-B08678FB76F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827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8C6C15-FD56-4ABA-AB12-BAA70ACDFB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D50E1FB-2178-4660-859C-59A4AD3736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AA6322A-92C9-446C-930A-0698A19F92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749A5-D26B-4DD9-88B7-4BB0D71C6E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118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26BD151-6E80-4919-A6C6-E85E8962B2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EDE622F-11F0-46C9-85F2-95727BDB710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738D21C-6B11-469E-BF8F-83948469C3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676B22-A5F5-4030-927E-C4CA6A17B41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025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3538"/>
            <a:ext cx="2255838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8" y="363538"/>
            <a:ext cx="3833812" cy="78041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2938"/>
            <a:ext cx="2255838" cy="62547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B731B5-3765-429E-872A-8668632123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07C996-8DF7-4E2F-AF23-8DAE146FF6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165721-1FB1-4FD2-A3E1-477148721D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26379-5844-4A64-9BA4-F7716D322D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5641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613" y="6400800"/>
            <a:ext cx="4114800" cy="7556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613" y="81756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613" y="7156450"/>
            <a:ext cx="4114800" cy="10731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4575CE-128F-476E-9884-74481803822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8A3289-721A-48D4-BD33-CB44F14573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9935AD-6A4E-4742-A5EC-70E337C65E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70698-8585-408D-A50A-82C6BAF88B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945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F1E756A-6CC2-49FD-B2C6-94BBA2E28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7474D1-7536-4F1B-9CB0-D3EB9F13FE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C534539-C415-4FB2-BCF4-AA9959083DD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15850-7A6B-4577-8E5E-4628090CA04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57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86325" y="812800"/>
            <a:ext cx="1457325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812800"/>
            <a:ext cx="4219575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BC7C570-8D38-46A4-A221-68C08F2759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DE6BD3-ADB3-4002-8C56-DD9C0767C1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85F287D-3029-4F09-A12C-3077245F7E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8AE627-F7F6-4910-8AF8-EDFD7EF370D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341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C1576A-CAC6-4108-AC52-7CAE92E892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4350" y="812800"/>
            <a:ext cx="58293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7FFCB32-D8F0-40DD-8DDD-4FE31F5DEF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14350" y="2641600"/>
            <a:ext cx="58293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5817BB7-B3C8-41CB-87F5-8A89D275B32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435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305F237-D2AD-46AB-9089-261059316D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343150" y="8331200"/>
            <a:ext cx="21717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A19BE72-D15C-4880-BADE-7EDEFB1FE98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914900" y="8331200"/>
            <a:ext cx="14287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807ACE82-7722-4325-9638-353FC5DF31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customXml" Target="../ink/ink5.xml"/><Relationship Id="rId3" Type="http://schemas.openxmlformats.org/officeDocument/2006/relationships/image" Target="../media/image1.emf"/><Relationship Id="rId7" Type="http://schemas.openxmlformats.org/officeDocument/2006/relationships/customXml" Target="../ink/ink2.xml"/><Relationship Id="rId12" Type="http://schemas.openxmlformats.org/officeDocument/2006/relationships/image" Target="../media/image6.png"/><Relationship Id="rId2" Type="http://schemas.openxmlformats.org/officeDocument/2006/relationships/oleObject" Target="../embeddings/Microsoft_Word_97_-_2003_Document.doc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customXml" Target="../ink/ink3.xml"/><Relationship Id="rId1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.xml"/><Relationship Id="rId13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12" Type="http://schemas.openxmlformats.org/officeDocument/2006/relationships/customXml" Target="../ink/ink12.xml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customXml" Target="../ink/ink11.xml"/><Relationship Id="rId4" Type="http://schemas.openxmlformats.org/officeDocument/2006/relationships/customXml" Target="../ink/ink8.xml"/><Relationship Id="rId9" Type="http://schemas.openxmlformats.org/officeDocument/2006/relationships/image" Target="../media/image12.png"/><Relationship Id="rId1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customXml" Target="../ink/ink14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0FC2EDEB-CD6D-479E-AC2A-6579F6E4CF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850449"/>
              </p:ext>
            </p:extLst>
          </p:nvPr>
        </p:nvGraphicFramePr>
        <p:xfrm>
          <a:off x="541338" y="5113338"/>
          <a:ext cx="5424487" cy="2430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94170" imgH="2455524" progId="Word.Document.8">
                  <p:embed/>
                </p:oleObj>
              </mc:Choice>
              <mc:Fallback>
                <p:oleObj name="Document" r:id="rId2" imgW="5494170" imgH="2455524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8" y="5113338"/>
                        <a:ext cx="5424487" cy="2430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Text Box 3">
            <a:extLst>
              <a:ext uri="{FF2B5EF4-FFF2-40B4-BE49-F238E27FC236}">
                <a16:creationId xmlns:a16="http://schemas.microsoft.com/office/drawing/2014/main" id="{6F9A29ED-552A-4B04-9BFF-78324234E8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152400"/>
            <a:ext cx="9556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en-US" altLang="en-US" sz="1400"/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CMSC204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1400"/>
              <a:t>Kartchner</a:t>
            </a:r>
          </a:p>
        </p:txBody>
      </p:sp>
      <p:sp>
        <p:nvSpPr>
          <p:cNvPr id="2054" name="Rectangle 7">
            <a:extLst>
              <a:ext uri="{FF2B5EF4-FFF2-40B4-BE49-F238E27FC236}">
                <a16:creationId xmlns:a16="http://schemas.microsoft.com/office/drawing/2014/main" id="{CD9F0903-62EA-42BD-8AD2-C0B50A702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1189038"/>
            <a:ext cx="62912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V(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{Oregon, Alaska, Texas, Hawaii, Vermont, </a:t>
            </a:r>
            <a:r>
              <a:rPr lang="en-US" altLang="en-US" sz="1200" dirty="0" err="1"/>
              <a:t>NewYork</a:t>
            </a:r>
            <a:r>
              <a:rPr lang="en-US" altLang="en-US" sz="1200" dirty="0"/>
              <a:t>, California}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E(</a:t>
            </a:r>
            <a:r>
              <a:rPr lang="en-US" altLang="en-US" sz="1200" dirty="0" err="1"/>
              <a:t>StateGraph</a:t>
            </a:r>
            <a:r>
              <a:rPr lang="en-US" altLang="en-US" sz="1200" dirty="0"/>
              <a:t>) = {(Alaska, Oregon), (Hawaii, Alaska), (Hawaii, Texas), (Texas, Hawaii), (Hawaii, 	California), (Hawaii, New York), (Texas, Vermont), (Vermont, California), 	(Vermont, Alaska)}</a:t>
            </a:r>
          </a:p>
        </p:txBody>
      </p:sp>
      <p:sp>
        <p:nvSpPr>
          <p:cNvPr id="2055" name="Rectangle 8">
            <a:extLst>
              <a:ext uri="{FF2B5EF4-FFF2-40B4-BE49-F238E27FC236}">
                <a16:creationId xmlns:a16="http://schemas.microsoft.com/office/drawing/2014/main" id="{23AE5A62-58FC-45BC-8E66-2A3E942B3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429000"/>
            <a:ext cx="5791200" cy="12954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2056" name="Text Box 9">
            <a:extLst>
              <a:ext uri="{FF2B5EF4-FFF2-40B4-BE49-F238E27FC236}">
                <a16:creationId xmlns:a16="http://schemas.microsoft.com/office/drawing/2014/main" id="{DF9A9F0D-E17B-4441-A5AB-ABE3472E3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25" y="2246313"/>
            <a:ext cx="16637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/>
              <a:t>1.  Draw the StateGraph</a:t>
            </a:r>
          </a:p>
        </p:txBody>
      </p:sp>
      <p:pic>
        <p:nvPicPr>
          <p:cNvPr id="2064" name="Picture 16">
            <a:extLst>
              <a:ext uri="{FF2B5EF4-FFF2-40B4-BE49-F238E27FC236}">
                <a16:creationId xmlns:a16="http://schemas.microsoft.com/office/drawing/2014/main" id="{DEE6B34A-967B-1E25-B122-26237C51F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011363"/>
            <a:ext cx="4752975" cy="3118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1916937-A319-BE65-132D-80F90830657F}"/>
                  </a:ext>
                </a:extLst>
              </p14:cNvPr>
              <p14:cNvContentPartPr/>
              <p14:nvPr/>
            </p14:nvContentPartPr>
            <p14:xfrm>
              <a:off x="4444200" y="6494252"/>
              <a:ext cx="315720" cy="66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1916937-A319-BE65-132D-80F90830657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390200" y="6386612"/>
                <a:ext cx="42336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5301912-EA3F-EEE7-3F6A-47F7FDB94FC4}"/>
                  </a:ext>
                </a:extLst>
              </p14:cNvPr>
              <p14:cNvContentPartPr/>
              <p14:nvPr/>
            </p14:nvContentPartPr>
            <p14:xfrm>
              <a:off x="4668120" y="6904652"/>
              <a:ext cx="337680" cy="32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5301912-EA3F-EEE7-3F6A-47F7FDB94FC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14480" y="6797012"/>
                <a:ext cx="44532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A3F3FDD-7C47-B2B9-C097-B310EB67AB73}"/>
                  </a:ext>
                </a:extLst>
              </p14:cNvPr>
              <p14:cNvContentPartPr/>
              <p14:nvPr/>
            </p14:nvContentPartPr>
            <p14:xfrm>
              <a:off x="4547160" y="7303532"/>
              <a:ext cx="446760" cy="23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A3F3FDD-7C47-B2B9-C097-B310EB67AB7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493520" y="7195892"/>
                <a:ext cx="55440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2EC607D-C7FC-128E-4A9F-11FA0072973F}"/>
                  </a:ext>
                </a:extLst>
              </p14:cNvPr>
              <p14:cNvContentPartPr/>
              <p14:nvPr/>
            </p14:nvContentPartPr>
            <p14:xfrm>
              <a:off x="2051280" y="5533052"/>
              <a:ext cx="1992960" cy="24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2EC607D-C7FC-128E-4A9F-11FA0072973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997280" y="5425052"/>
                <a:ext cx="210060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D26F0C2-9179-846B-4D2E-F8A47858E524}"/>
                  </a:ext>
                </a:extLst>
              </p14:cNvPr>
              <p14:cNvContentPartPr/>
              <p14:nvPr/>
            </p14:nvContentPartPr>
            <p14:xfrm>
              <a:off x="515520" y="6037052"/>
              <a:ext cx="4184280" cy="1180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D26F0C2-9179-846B-4D2E-F8A47858E52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1520" y="5929052"/>
                <a:ext cx="4291920" cy="33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7DB5648-6657-2314-66E2-DC2B98D35691}"/>
                  </a:ext>
                </a:extLst>
              </p14:cNvPr>
              <p14:cNvContentPartPr/>
              <p14:nvPr/>
            </p14:nvContentPartPr>
            <p14:xfrm>
              <a:off x="457200" y="6248372"/>
              <a:ext cx="1417680" cy="241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7DB5648-6657-2314-66E2-DC2B98D3569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3560" y="6140732"/>
                <a:ext cx="1525320" cy="239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>
            <a:extLst>
              <a:ext uri="{FF2B5EF4-FFF2-40B4-BE49-F238E27FC236}">
                <a16:creationId xmlns:a16="http://schemas.microsoft.com/office/drawing/2014/main" id="{C129A688-1F3C-4C9F-9AC5-19802C32F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" y="5446713"/>
            <a:ext cx="3217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3.   b.   Show the adjacency lists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           that would describe the edges in the graph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3F1D4401-FBEF-43F9-BEE5-1B122142E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6019800"/>
            <a:ext cx="1295400" cy="259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3641C4-B2C2-437B-AAA3-9677860519ED}"/>
              </a:ext>
            </a:extLst>
          </p:cNvPr>
          <p:cNvGrpSpPr/>
          <p:nvPr/>
        </p:nvGrpSpPr>
        <p:grpSpPr>
          <a:xfrm>
            <a:off x="914400" y="1241418"/>
            <a:ext cx="1676400" cy="2985412"/>
            <a:chOff x="381000" y="6248400"/>
            <a:chExt cx="1143000" cy="2590800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150515A3-7AEC-4F11-96B7-7933E596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6553200"/>
              <a:ext cx="1143000" cy="22860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BCC31319-0CFB-4318-B56D-38F7954388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" y="6248400"/>
              <a:ext cx="549275" cy="2746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1200" dirty="0"/>
                <a:t>States</a:t>
              </a: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E4B944C5-4159-45AC-A452-4E3D1B0B311C}"/>
              </a:ext>
            </a:extLst>
          </p:cNvPr>
          <p:cNvSpPr/>
          <p:nvPr/>
        </p:nvSpPr>
        <p:spPr>
          <a:xfrm>
            <a:off x="457200" y="304800"/>
            <a:ext cx="533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 startAt="3"/>
              <a:tabLst>
                <a:tab pos="228600" algn="l"/>
              </a:tabLst>
            </a:pPr>
            <a:r>
              <a:rPr lang="en-US" sz="1200" dirty="0">
                <a:ea typeface="Times New Roman" panose="02020603050405020304" pitchFamily="18" charset="0"/>
              </a:rPr>
              <a:t>a.  Show the adjacency matrix that would describe the edges in the graph. Store the vertices in alphabetical order</a:t>
            </a:r>
            <a:endParaRPr lang="en-US" sz="1000" dirty="0">
              <a:ea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6CF86A-3BD2-DCE3-4701-D7ADCD0B234E}"/>
              </a:ext>
            </a:extLst>
          </p:cNvPr>
          <p:cNvSpPr txBox="1"/>
          <p:nvPr/>
        </p:nvSpPr>
        <p:spPr>
          <a:xfrm>
            <a:off x="990600" y="6281394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AK: 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FC68F0-D36B-4D9B-0E0F-6A0F267DEF71}"/>
              </a:ext>
            </a:extLst>
          </p:cNvPr>
          <p:cNvSpPr txBox="1"/>
          <p:nvPr/>
        </p:nvSpPr>
        <p:spPr>
          <a:xfrm>
            <a:off x="1000443" y="6080762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OR: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3D9423-27D7-301C-581A-3502006F1205}"/>
              </a:ext>
            </a:extLst>
          </p:cNvPr>
          <p:cNvSpPr txBox="1"/>
          <p:nvPr/>
        </p:nvSpPr>
        <p:spPr>
          <a:xfrm>
            <a:off x="980757" y="6494753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TX: HI, VT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8B5F16-AC69-1522-5B8D-43A2267FBE71}"/>
              </a:ext>
            </a:extLst>
          </p:cNvPr>
          <p:cNvSpPr txBox="1"/>
          <p:nvPr/>
        </p:nvSpPr>
        <p:spPr>
          <a:xfrm>
            <a:off x="980757" y="7131065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NY: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0F7B94-A9C2-C9B8-B249-A2403E965492}"/>
              </a:ext>
            </a:extLst>
          </p:cNvPr>
          <p:cNvSpPr txBox="1"/>
          <p:nvPr/>
        </p:nvSpPr>
        <p:spPr>
          <a:xfrm>
            <a:off x="914400" y="6695412"/>
            <a:ext cx="1504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HI: TX, CA, NY, AK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319E57-E504-4B6D-BB27-46702A358197}"/>
              </a:ext>
            </a:extLst>
          </p:cNvPr>
          <p:cNvSpPr txBox="1"/>
          <p:nvPr/>
        </p:nvSpPr>
        <p:spPr>
          <a:xfrm>
            <a:off x="970914" y="7331724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CA: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BDADB6-4C7D-90CA-B768-637D1B329168}"/>
              </a:ext>
            </a:extLst>
          </p:cNvPr>
          <p:cNvSpPr txBox="1"/>
          <p:nvPr/>
        </p:nvSpPr>
        <p:spPr>
          <a:xfrm>
            <a:off x="914400" y="6921785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VT: AK, CA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873C30D3-7EE5-A1AD-A5DA-6B8AC3347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219369"/>
              </p:ext>
            </p:extLst>
          </p:nvPr>
        </p:nvGraphicFramePr>
        <p:xfrm>
          <a:off x="2590800" y="1630950"/>
          <a:ext cx="2689859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860">
                  <a:extLst>
                    <a:ext uri="{9D8B030D-6E8A-4147-A177-3AD203B41FA5}">
                      <a16:colId xmlns:a16="http://schemas.microsoft.com/office/drawing/2014/main" val="23487217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531272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939994978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72136105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52810262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659853276"/>
                    </a:ext>
                  </a:extLst>
                </a:gridCol>
                <a:gridCol w="380999">
                  <a:extLst>
                    <a:ext uri="{9D8B030D-6E8A-4147-A177-3AD203B41FA5}">
                      <a16:colId xmlns:a16="http://schemas.microsoft.com/office/drawing/2014/main" val="36787823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518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0561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8160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47914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6987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036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808116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EE8D9D99-1D7E-C7FE-177F-5F9CD963DBA9}"/>
              </a:ext>
            </a:extLst>
          </p:cNvPr>
          <p:cNvSpPr txBox="1"/>
          <p:nvPr/>
        </p:nvSpPr>
        <p:spPr>
          <a:xfrm>
            <a:off x="5238266" y="1889539"/>
            <a:ext cx="647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AK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BFD6B6-2643-F19B-9C27-46A8FC189D58}"/>
              </a:ext>
            </a:extLst>
          </p:cNvPr>
          <p:cNvSpPr txBox="1"/>
          <p:nvPr/>
        </p:nvSpPr>
        <p:spPr>
          <a:xfrm>
            <a:off x="5253824" y="2282332"/>
            <a:ext cx="621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TX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C33201-22A8-D5AF-6F14-86341E18C65F}"/>
              </a:ext>
            </a:extLst>
          </p:cNvPr>
          <p:cNvSpPr txBox="1"/>
          <p:nvPr/>
        </p:nvSpPr>
        <p:spPr>
          <a:xfrm>
            <a:off x="5284387" y="2634769"/>
            <a:ext cx="571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HI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6B6221-CADE-560D-1A20-081F88B19E4C}"/>
              </a:ext>
            </a:extLst>
          </p:cNvPr>
          <p:cNvSpPr txBox="1"/>
          <p:nvPr/>
        </p:nvSpPr>
        <p:spPr>
          <a:xfrm>
            <a:off x="5284387" y="3025616"/>
            <a:ext cx="621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VT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07E418F-0522-F8A8-334F-6D0351055046}"/>
              </a:ext>
            </a:extLst>
          </p:cNvPr>
          <p:cNvSpPr txBox="1"/>
          <p:nvPr/>
        </p:nvSpPr>
        <p:spPr>
          <a:xfrm>
            <a:off x="5322623" y="3368583"/>
            <a:ext cx="6894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A75A7B9-0E0F-F4E9-37A7-081D2BE996F9}"/>
              </a:ext>
            </a:extLst>
          </p:cNvPr>
          <p:cNvSpPr txBox="1"/>
          <p:nvPr/>
        </p:nvSpPr>
        <p:spPr>
          <a:xfrm>
            <a:off x="5310899" y="3711550"/>
            <a:ext cx="621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CA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B69663-70B0-9D70-E376-B99203247A04}"/>
              </a:ext>
            </a:extLst>
          </p:cNvPr>
          <p:cNvSpPr txBox="1"/>
          <p:nvPr/>
        </p:nvSpPr>
        <p:spPr>
          <a:xfrm>
            <a:off x="5345112" y="1584626"/>
            <a:ext cx="621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OR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2056F70-DF35-3E67-1C56-37C9B5BDEFCA}"/>
              </a:ext>
            </a:extLst>
          </p:cNvPr>
          <p:cNvSpPr txBox="1"/>
          <p:nvPr/>
        </p:nvSpPr>
        <p:spPr>
          <a:xfrm>
            <a:off x="2495232" y="4160914"/>
            <a:ext cx="621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OR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2C3478-1350-4AAB-C906-83AC4C17A5CA}"/>
              </a:ext>
            </a:extLst>
          </p:cNvPr>
          <p:cNvSpPr txBox="1"/>
          <p:nvPr/>
        </p:nvSpPr>
        <p:spPr>
          <a:xfrm>
            <a:off x="3326091" y="4135601"/>
            <a:ext cx="6210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TX</a:t>
            </a:r>
            <a:endParaRPr lang="en-US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686BD09-1D17-8F18-035D-B96D8CE2BA9E}"/>
              </a:ext>
            </a:extLst>
          </p:cNvPr>
          <p:cNvSpPr txBox="1"/>
          <p:nvPr/>
        </p:nvSpPr>
        <p:spPr>
          <a:xfrm>
            <a:off x="2916273" y="4151221"/>
            <a:ext cx="647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AK</a:t>
            </a:r>
            <a:endParaRPr lang="en-US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F89D22-3C23-2875-46F8-2447CA8AB358}"/>
              </a:ext>
            </a:extLst>
          </p:cNvPr>
          <p:cNvSpPr txBox="1"/>
          <p:nvPr/>
        </p:nvSpPr>
        <p:spPr>
          <a:xfrm>
            <a:off x="3754653" y="4151221"/>
            <a:ext cx="5125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HI</a:t>
            </a:r>
            <a:endParaRPr lang="en-US" sz="2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4AE01E-66DB-E5A9-6244-9F76B55DB9ED}"/>
              </a:ext>
            </a:extLst>
          </p:cNvPr>
          <p:cNvSpPr txBox="1"/>
          <p:nvPr/>
        </p:nvSpPr>
        <p:spPr>
          <a:xfrm>
            <a:off x="4085235" y="4151221"/>
            <a:ext cx="5969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VT</a:t>
            </a:r>
            <a:endParaRPr lang="en-US" sz="2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210FFF-522B-760E-8EFF-E270748CCAAE}"/>
              </a:ext>
            </a:extLst>
          </p:cNvPr>
          <p:cNvSpPr txBox="1"/>
          <p:nvPr/>
        </p:nvSpPr>
        <p:spPr>
          <a:xfrm>
            <a:off x="4480595" y="4151221"/>
            <a:ext cx="5969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NY</a:t>
            </a:r>
            <a:endParaRPr lang="en-US" sz="2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EBA728-EB98-96B9-4707-853634E8ADB1}"/>
              </a:ext>
            </a:extLst>
          </p:cNvPr>
          <p:cNvSpPr txBox="1"/>
          <p:nvPr/>
        </p:nvSpPr>
        <p:spPr>
          <a:xfrm>
            <a:off x="4893538" y="4173215"/>
            <a:ext cx="5969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CA</a:t>
            </a: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71E89B9-ED36-67ED-AFD8-AB164590A268}"/>
                  </a:ext>
                </a:extLst>
              </p14:cNvPr>
              <p14:cNvContentPartPr/>
              <p14:nvPr/>
            </p14:nvContentPartPr>
            <p14:xfrm>
              <a:off x="2232000" y="1760160"/>
              <a:ext cx="297720" cy="22867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71E89B9-ED36-67ED-AFD8-AB164590A26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5880" y="1753680"/>
                <a:ext cx="309960" cy="22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5F116509-57B5-7E55-F19B-F6DA30347B10}"/>
                  </a:ext>
                </a:extLst>
              </p14:cNvPr>
              <p14:cNvContentPartPr/>
              <p14:nvPr/>
            </p14:nvContentPartPr>
            <p14:xfrm>
              <a:off x="5265000" y="1805880"/>
              <a:ext cx="282240" cy="228096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5F116509-57B5-7E55-F19B-F6DA30347B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8880" y="1799400"/>
                <a:ext cx="294480" cy="229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1026E9E0-9DEB-983A-29AC-BC2ECB248F31}"/>
              </a:ext>
            </a:extLst>
          </p:cNvPr>
          <p:cNvGrpSpPr/>
          <p:nvPr/>
        </p:nvGrpSpPr>
        <p:grpSpPr>
          <a:xfrm>
            <a:off x="1364040" y="2552880"/>
            <a:ext cx="687600" cy="441720"/>
            <a:chOff x="1364040" y="2552880"/>
            <a:chExt cx="687600" cy="4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99B286-EAA5-7CB6-501A-AA32D2BA6146}"/>
                    </a:ext>
                  </a:extLst>
                </p14:cNvPr>
                <p14:cNvContentPartPr/>
                <p14:nvPr/>
              </p14:nvContentPartPr>
              <p14:xfrm>
                <a:off x="1364040" y="2552880"/>
                <a:ext cx="321120" cy="441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99B286-EAA5-7CB6-501A-AA32D2BA61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57920" y="2546760"/>
                  <a:ext cx="33336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A0F18797-7414-E579-004B-6B64E03E2F41}"/>
                    </a:ext>
                  </a:extLst>
                </p14:cNvPr>
                <p14:cNvContentPartPr/>
                <p14:nvPr/>
              </p14:nvContentPartPr>
              <p14:xfrm>
                <a:off x="1493640" y="2727840"/>
                <a:ext cx="142560" cy="8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A0F18797-7414-E579-004B-6B64E03E2F4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87160" y="2721720"/>
                  <a:ext cx="1548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3B52517-48C7-99B2-7A74-CE9E42CE77A8}"/>
                    </a:ext>
                  </a:extLst>
                </p14:cNvPr>
                <p14:cNvContentPartPr/>
                <p14:nvPr/>
              </p14:nvContentPartPr>
              <p14:xfrm>
                <a:off x="1798200" y="2705160"/>
                <a:ext cx="234000" cy="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3B52517-48C7-99B2-7A74-CE9E42CE77A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91720" y="2698680"/>
                  <a:ext cx="2462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CBD87C0-6B59-8BD7-2CD7-84CF0CEA46AC}"/>
                    </a:ext>
                  </a:extLst>
                </p14:cNvPr>
                <p14:cNvContentPartPr/>
                <p14:nvPr/>
              </p14:nvContentPartPr>
              <p14:xfrm>
                <a:off x="1843920" y="2842320"/>
                <a:ext cx="207720" cy="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CBD87C0-6B59-8BD7-2CD7-84CF0CEA46A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37440" y="2835840"/>
                  <a:ext cx="219960" cy="12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62" name="Picture 16">
            <a:extLst>
              <a:ext uri="{FF2B5EF4-FFF2-40B4-BE49-F238E27FC236}">
                <a16:creationId xmlns:a16="http://schemas.microsoft.com/office/drawing/2014/main" id="{589E7BE2-E5B0-815E-D929-DB7B1D189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643" y="5661705"/>
            <a:ext cx="4394175" cy="2883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B977FDE-32EA-465E-AADB-9C989EE1C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09600"/>
            <a:ext cx="4391025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4">
            <a:extLst>
              <a:ext uri="{FF2B5EF4-FFF2-40B4-BE49-F238E27FC236}">
                <a16:creationId xmlns:a16="http://schemas.microsoft.com/office/drawing/2014/main" id="{644F9C34-5703-4C24-9E52-5CCFFBD6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248025"/>
            <a:ext cx="5653088" cy="1370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685800" algn="l"/>
                <a:tab pos="914400" algn="l"/>
                <a:tab pos="1143000" algn="l"/>
                <a:tab pos="1371600" algn="l"/>
                <a:tab pos="1600200" algn="l"/>
                <a:tab pos="1828800" algn="l"/>
                <a:tab pos="2057400" algn="l"/>
                <a:tab pos="2286000" algn="l"/>
                <a:tab pos="2514600" algn="l"/>
                <a:tab pos="2743200" algn="l"/>
                <a:tab pos="2971800" algn="l"/>
                <a:tab pos="3200400" algn="l"/>
                <a:tab pos="3429000" algn="l"/>
                <a:tab pos="3657600" algn="l"/>
                <a:tab pos="3708400" algn="l"/>
                <a:tab pos="3886200" algn="l"/>
                <a:tab pos="4114800" algn="l"/>
                <a:tab pos="4343400" algn="l"/>
                <a:tab pos="4572000" algn="l"/>
                <a:tab pos="4800600" algn="l"/>
                <a:tab pos="5029200" algn="l"/>
              </a:tabLst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	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a.    Which of the following lists the graph nodes in depth first order beginning with E?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	E, G, F, C, D, B, A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	G, A, E, C, B, F, D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	E, G, A, D, F, C, B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	E, C, F, B, A, D, G 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F45A182C-00FA-4567-8FE6-CAFB6DBCF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800600"/>
            <a:ext cx="57150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4 b.    Which of the following lists the graph nodes in breadth first order beginning at F?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A)  F, C, D, A, B, E, G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B)  F, D, C, A, B, C, G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C)  F, C, D, B, G, A, 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	D)  a, b, and c are all breadth first traversals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82307CE-E69A-35EA-4A78-65EF9F800CF6}"/>
                  </a:ext>
                </a:extLst>
              </p14:cNvPr>
              <p14:cNvContentPartPr/>
              <p14:nvPr/>
            </p14:nvContentPartPr>
            <p14:xfrm>
              <a:off x="342780" y="4320360"/>
              <a:ext cx="1874880" cy="7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82307CE-E69A-35EA-4A78-65EF9F800C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8780" y="4104360"/>
                <a:ext cx="198252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C16B15F-3393-E3F1-1A04-79108F7BA473}"/>
                  </a:ext>
                </a:extLst>
              </p14:cNvPr>
              <p14:cNvContentPartPr/>
              <p14:nvPr/>
            </p14:nvContentPartPr>
            <p14:xfrm>
              <a:off x="1226940" y="5135400"/>
              <a:ext cx="1488240" cy="165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C16B15F-3393-E3F1-1A04-79108F7BA4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72940" y="5027400"/>
                <a:ext cx="1595880" cy="23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45338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9_633b">
            <a:extLst>
              <a:ext uri="{FF2B5EF4-FFF2-40B4-BE49-F238E27FC236}">
                <a16:creationId xmlns:a16="http://schemas.microsoft.com/office/drawing/2014/main" id="{31561808-D3EA-42DE-AACF-7FE716DB2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685800"/>
            <a:ext cx="4648200" cy="285591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9" name="Text Box 5">
            <a:extLst>
              <a:ext uri="{FF2B5EF4-FFF2-40B4-BE49-F238E27FC236}">
                <a16:creationId xmlns:a16="http://schemas.microsoft.com/office/drawing/2014/main" id="{6A9A4ED3-BE14-4EA7-88B6-70C20075B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962400"/>
            <a:ext cx="3911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200" dirty="0"/>
              <a:t>5.  Find the shortest </a:t>
            </a:r>
            <a:r>
              <a:rPr lang="en-US" altLang="en-US" sz="1200" u="sng" dirty="0"/>
              <a:t>distance</a:t>
            </a:r>
            <a:r>
              <a:rPr lang="en-US" altLang="en-US" sz="1200" dirty="0"/>
              <a:t> from Atlanta to every other city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29B741-28F5-AD01-AF98-7828C8CB7530}"/>
              </a:ext>
            </a:extLst>
          </p:cNvPr>
          <p:cNvSpPr txBox="1"/>
          <p:nvPr/>
        </p:nvSpPr>
        <p:spPr>
          <a:xfrm>
            <a:off x="1752600" y="4341167"/>
            <a:ext cx="3725956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Atlanta to Atlanta = 0</a:t>
            </a:r>
          </a:p>
          <a:p>
            <a:r>
              <a:rPr lang="en-US" dirty="0"/>
              <a:t>Atlanta to Washington = 600</a:t>
            </a:r>
          </a:p>
          <a:p>
            <a:r>
              <a:rPr lang="en-US" dirty="0"/>
              <a:t>Atlanta to Houston = 800</a:t>
            </a:r>
          </a:p>
          <a:p>
            <a:r>
              <a:rPr lang="en-US" dirty="0"/>
              <a:t>Atlanta to Denver = 960</a:t>
            </a:r>
          </a:p>
          <a:p>
            <a:r>
              <a:rPr lang="en-US" dirty="0"/>
              <a:t>Atlanta to Dallas = 1300</a:t>
            </a:r>
          </a:p>
          <a:p>
            <a:r>
              <a:rPr lang="en-US" dirty="0"/>
              <a:t>Atlanta to Austin = 1500</a:t>
            </a:r>
          </a:p>
          <a:p>
            <a:r>
              <a:rPr lang="en-US" dirty="0"/>
              <a:t>Atlanta to Chicago = 1960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5">
            <a:extLst>
              <a:ext uri="{FF2B5EF4-FFF2-40B4-BE49-F238E27FC236}">
                <a16:creationId xmlns:a16="http://schemas.microsoft.com/office/drawing/2014/main" id="{173F8752-B146-46CD-B46E-CFF49491B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09600"/>
            <a:ext cx="4942443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6.  Find the minimal spanning tree using Prim’s algorithm.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0 as the source vertex .  Show the steps.</a:t>
            </a:r>
          </a:p>
        </p:txBody>
      </p:sp>
      <p:pic>
        <p:nvPicPr>
          <p:cNvPr id="2051" name="Picture 5">
            <a:extLst>
              <a:ext uri="{FF2B5EF4-FFF2-40B4-BE49-F238E27FC236}">
                <a16:creationId xmlns:a16="http://schemas.microsoft.com/office/drawing/2014/main" id="{46AC5A2B-1B00-4434-8F50-20AAD41C6B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137" y="1082262"/>
            <a:ext cx="2077323" cy="16463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FB88AAB-980F-6A6F-E5FC-27A3BDAFBE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070028"/>
              </p:ext>
            </p:extLst>
          </p:nvPr>
        </p:nvGraphicFramePr>
        <p:xfrm>
          <a:off x="685801" y="2728652"/>
          <a:ext cx="5486400" cy="5159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399">
                  <a:extLst>
                    <a:ext uri="{9D8B030D-6E8A-4147-A177-3AD203B41FA5}">
                      <a16:colId xmlns:a16="http://schemas.microsoft.com/office/drawing/2014/main" val="9920295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89456013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824276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315629616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1001061499"/>
                    </a:ext>
                  </a:extLst>
                </a:gridCol>
              </a:tblGrid>
              <a:tr h="63919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Select cheapest: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Visited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MST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Candidate edges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4523"/>
                  </a:ext>
                </a:extLst>
              </a:tr>
              <a:tr h="511352">
                <a:tc>
                  <a:txBody>
                    <a:bodyPr/>
                    <a:lstStyle/>
                    <a:p>
                      <a:r>
                        <a:rPr lang="en-US" sz="1000" dirty="0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Start: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{(0,2, weight = 3), (0,1, weight =7)}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482129"/>
                  </a:ext>
                </a:extLst>
              </a:tr>
              <a:tr h="511352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(0,2) 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{0, 2}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[(0,2,3)]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add(2,5, weight = 1), remove(0,2), (0,1, weight =7), add(2,4, weight = 8)}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870832"/>
                  </a:ext>
                </a:extLst>
              </a:tr>
              <a:tr h="511352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(2,5) =1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{0,2,5}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[(0,2,3), (2,5,1)]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{remove(2,5), add(5,1,weight=2), (0,1, weight =7), (2,4, weight = 8)}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859868"/>
                  </a:ext>
                </a:extLst>
              </a:tr>
              <a:tr h="511352">
                <a:tc>
                  <a:txBody>
                    <a:bodyPr/>
                    <a:lstStyle/>
                    <a:p>
                      <a:r>
                        <a:rPr lang="en-US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(5,1) 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{0,2,5,1}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[(0,2,3), (2,5,1), (5,1,2)]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{remove(5,1), add(5,4, weight=3), add(1,3,weight=5), ignore(0,1, weight =7), (2,4, weight = 8)}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3711"/>
                  </a:ext>
                </a:extLst>
              </a:tr>
              <a:tr h="715893">
                <a:tc>
                  <a:txBody>
                    <a:bodyPr/>
                    <a:lstStyle/>
                    <a:p>
                      <a:r>
                        <a:rPr lang="en-US" sz="1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(5,4) 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{0,2,5,1,4}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[(0,2,3), (2,5,1), (5,1,2), (5,4,3)]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 (1,3, weight=5), add(3,4, weight=6), remove(5,4), remove(2,4)}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652720"/>
                  </a:ext>
                </a:extLst>
              </a:tr>
              <a:tr h="715893">
                <a:tc>
                  <a:txBody>
                    <a:bodyPr/>
                    <a:lstStyle/>
                    <a:p>
                      <a:r>
                        <a:rPr lang="en-US" sz="10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(1,3) =5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{0,2,5,1,4,3}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[(0,2,3), (2,5,1), (5,1,2), (5,4,3), (1,3,5)]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{ remove(1,3), remove(3,4)}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436920"/>
                  </a:ext>
                </a:extLst>
              </a:tr>
              <a:tr h="920434">
                <a:tc>
                  <a:txBody>
                    <a:bodyPr/>
                    <a:lstStyle/>
                    <a:p>
                      <a:r>
                        <a:rPr lang="en-US" sz="1000" dirty="0"/>
                        <a:t>Done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/>
                        <a:t>Total </a:t>
                      </a:r>
                      <a:r>
                        <a:rPr lang="en-US" sz="1000" b="0" dirty="0"/>
                        <a:t>weight of MST: 3+1+2+3+5</a:t>
                      </a:r>
                      <a:r>
                        <a:rPr lang="en-US" sz="1000" b="1" dirty="0"/>
                        <a:t> = 14</a:t>
                      </a:r>
                      <a:endParaRPr lang="en-US" sz="1000" dirty="0"/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all vertices are Visited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Edges: (0,2), (2,5), (5,1), (5,4), (1,3)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3437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3">
            <a:extLst>
              <a:ext uri="{FF2B5EF4-FFF2-40B4-BE49-F238E27FC236}">
                <a16:creationId xmlns:a16="http://schemas.microsoft.com/office/drawing/2014/main" id="{00A92C8E-6175-4482-94F6-9AEE58F15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838200"/>
            <a:ext cx="63488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sz="1800" dirty="0"/>
              <a:t>7.  Find the minimal spanning tree using Kruskal’s algorithm.</a:t>
            </a:r>
          </a:p>
          <a:p>
            <a:pPr eaLnBrk="1" hangingPunct="1">
              <a:defRPr/>
            </a:pPr>
            <a:r>
              <a:rPr lang="en-US" sz="1800" dirty="0"/>
              <a:t>Show the weights in order and the steps.</a:t>
            </a:r>
          </a:p>
        </p:txBody>
      </p:sp>
      <p:sp>
        <p:nvSpPr>
          <p:cNvPr id="3075" name="Rectangle 4">
            <a:extLst>
              <a:ext uri="{FF2B5EF4-FFF2-40B4-BE49-F238E27FC236}">
                <a16:creationId xmlns:a16="http://schemas.microsoft.com/office/drawing/2014/main" id="{E71DD7EA-C580-43B3-BC05-FA24AC85E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4800600"/>
            <a:ext cx="2571750" cy="285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6" name="Rectangle 5">
            <a:extLst>
              <a:ext uri="{FF2B5EF4-FFF2-40B4-BE49-F238E27FC236}">
                <a16:creationId xmlns:a16="http://schemas.microsoft.com/office/drawing/2014/main" id="{5A054E60-1451-4BFE-A023-A4DF0B7F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43200"/>
            <a:ext cx="2228850" cy="21717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7" name="Rectangle 6">
            <a:extLst>
              <a:ext uri="{FF2B5EF4-FFF2-40B4-BE49-F238E27FC236}">
                <a16:creationId xmlns:a16="http://schemas.microsoft.com/office/drawing/2014/main" id="{D4108B9B-143E-4D5F-B2C5-7B979A64B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2743200"/>
            <a:ext cx="2114550" cy="20002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8" name="Rectangle 7">
            <a:extLst>
              <a:ext uri="{FF2B5EF4-FFF2-40B4-BE49-F238E27FC236}">
                <a16:creationId xmlns:a16="http://schemas.microsoft.com/office/drawing/2014/main" id="{2C2C5CBD-8904-410A-901D-4499337BD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572000"/>
            <a:ext cx="240030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sp>
        <p:nvSpPr>
          <p:cNvPr id="3079" name="Rectangle 8">
            <a:extLst>
              <a:ext uri="{FF2B5EF4-FFF2-40B4-BE49-F238E27FC236}">
                <a16:creationId xmlns:a16="http://schemas.microsoft.com/office/drawing/2014/main" id="{4FDBE91F-B50C-4798-9349-2A662252E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4550" y="2743200"/>
            <a:ext cx="2343150" cy="1714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080" name="Picture 5">
            <a:extLst>
              <a:ext uri="{FF2B5EF4-FFF2-40B4-BE49-F238E27FC236}">
                <a16:creationId xmlns:a16="http://schemas.microsoft.com/office/drawing/2014/main" id="{C44D3F9C-B06C-4D17-8564-DC283D6A4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2686050" cy="2128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0C2D26-4062-332F-36F6-18D51A64F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772520"/>
              </p:ext>
            </p:extLst>
          </p:nvPr>
        </p:nvGraphicFramePr>
        <p:xfrm>
          <a:off x="659827" y="3773862"/>
          <a:ext cx="5486400" cy="519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173">
                  <a:extLst>
                    <a:ext uri="{9D8B030D-6E8A-4147-A177-3AD203B41FA5}">
                      <a16:colId xmlns:a16="http://schemas.microsoft.com/office/drawing/2014/main" val="99202957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89456013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8242760"/>
                    </a:ext>
                  </a:extLst>
                </a:gridCol>
                <a:gridCol w="888426">
                  <a:extLst>
                    <a:ext uri="{9D8B030D-6E8A-4147-A177-3AD203B41FA5}">
                      <a16:colId xmlns:a16="http://schemas.microsoft.com/office/drawing/2014/main" val="3156296161"/>
                    </a:ext>
                  </a:extLst>
                </a:gridCol>
                <a:gridCol w="2362201">
                  <a:extLst>
                    <a:ext uri="{9D8B030D-6E8A-4147-A177-3AD203B41FA5}">
                      <a16:colId xmlns:a16="http://schemas.microsoft.com/office/drawing/2014/main" val="1001061499"/>
                    </a:ext>
                  </a:extLst>
                </a:gridCol>
              </a:tblGrid>
              <a:tr h="639190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Add edge: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MST edges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4523"/>
                  </a:ext>
                </a:extLst>
              </a:tr>
              <a:tr h="511352">
                <a:tc>
                  <a:txBody>
                    <a:bodyPr/>
                    <a:lstStyle/>
                    <a:p>
                      <a:r>
                        <a:rPr lang="en-US" sz="1000"/>
                        <a:t>Steps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Start: 0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{0}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[ ]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482129"/>
                  </a:ext>
                </a:extLst>
              </a:tr>
              <a:tr h="511352">
                <a:tc>
                  <a:txBody>
                    <a:bodyPr/>
                    <a:lstStyle/>
                    <a:p>
                      <a:r>
                        <a:rPr lang="en-US" sz="1000"/>
                        <a:t>1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(2,5) =1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{0}, {1}, {2,5}, {3}, {4}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{(2,5)}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Does  </a:t>
                      </a:r>
                      <a:r>
                        <a:rPr lang="en-US" sz="1000" b="1" dirty="0"/>
                        <a:t>not</a:t>
                      </a:r>
                      <a:r>
                        <a:rPr lang="en-US" sz="1000" dirty="0"/>
                        <a:t> create cycle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870832"/>
                  </a:ext>
                </a:extLst>
              </a:tr>
              <a:tr h="511352">
                <a:tc>
                  <a:txBody>
                    <a:bodyPr/>
                    <a:lstStyle/>
                    <a:p>
                      <a:r>
                        <a:rPr lang="en-US" sz="1000"/>
                        <a:t>2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(1,5) =2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{0}, {1,2,5}, {3}, {4}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{(2,5), (1,5)}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Does </a:t>
                      </a:r>
                      <a:r>
                        <a:rPr lang="en-US" sz="1000" b="1" dirty="0"/>
                        <a:t>not</a:t>
                      </a:r>
                      <a:r>
                        <a:rPr lang="en-US" sz="1000" dirty="0"/>
                        <a:t> connect vertices already in the set (1,5)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859868"/>
                  </a:ext>
                </a:extLst>
              </a:tr>
              <a:tr h="511352">
                <a:tc>
                  <a:txBody>
                    <a:bodyPr/>
                    <a:lstStyle/>
                    <a:p>
                      <a:r>
                        <a:rPr lang="en-US" sz="1000"/>
                        <a:t>3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(0,2)=3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{0,1,2,5}, {3}, {4}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{(2,5), (1,5), (0,2)}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Does </a:t>
                      </a:r>
                      <a:r>
                        <a:rPr lang="en-US" sz="1000" b="1" dirty="0"/>
                        <a:t>not</a:t>
                      </a:r>
                      <a:r>
                        <a:rPr lang="en-US" sz="1000" dirty="0"/>
                        <a:t> connect vertices already in the set (0,2)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923711"/>
                  </a:ext>
                </a:extLst>
              </a:tr>
              <a:tr h="715893">
                <a:tc>
                  <a:txBody>
                    <a:bodyPr/>
                    <a:lstStyle/>
                    <a:p>
                      <a:r>
                        <a:rPr lang="en-US" sz="1000"/>
                        <a:t>4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(4,5) =3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{0,1,2,4,5}, {3}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{(2,5), (1,5), (0,2), (4,5)}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Does </a:t>
                      </a:r>
                      <a:r>
                        <a:rPr lang="en-US" sz="1000" b="1" dirty="0"/>
                        <a:t>not</a:t>
                      </a:r>
                      <a:r>
                        <a:rPr lang="en-US" sz="1000" dirty="0"/>
                        <a:t> connect vertices already in the set (4,5)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652720"/>
                  </a:ext>
                </a:extLst>
              </a:tr>
              <a:tr h="715893">
                <a:tc>
                  <a:txBody>
                    <a:bodyPr/>
                    <a:lstStyle/>
                    <a:p>
                      <a:r>
                        <a:rPr lang="en-US" sz="1000"/>
                        <a:t>5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/>
                        <a:t>(1,3) =5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{0,1,2,4,5, 3}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{(2,5), (1,5), (0,2), (4,5), (1,3)}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Does </a:t>
                      </a:r>
                      <a:r>
                        <a:rPr lang="en-US" sz="1000" b="1" dirty="0"/>
                        <a:t>not</a:t>
                      </a:r>
                      <a:r>
                        <a:rPr lang="en-US" sz="1000" dirty="0"/>
                        <a:t> connect vertices already in the set (1,3)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5436920"/>
                  </a:ext>
                </a:extLst>
              </a:tr>
              <a:tr h="920434">
                <a:tc>
                  <a:txBody>
                    <a:bodyPr/>
                    <a:lstStyle/>
                    <a:p>
                      <a:r>
                        <a:rPr lang="en-US" sz="1000"/>
                        <a:t>Done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/>
                        <a:t>Total </a:t>
                      </a:r>
                      <a:r>
                        <a:rPr lang="en-US" sz="1000" b="0" dirty="0"/>
                        <a:t>weight of MST: 1+2+3+3+5</a:t>
                      </a:r>
                      <a:r>
                        <a:rPr lang="en-US" sz="1000" b="1" dirty="0"/>
                        <a:t>= 14</a:t>
                      </a:r>
                    </a:p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3437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4" descr="08">
            <a:extLst>
              <a:ext uri="{FF2B5EF4-FFF2-40B4-BE49-F238E27FC236}">
                <a16:creationId xmlns:a16="http://schemas.microsoft.com/office/drawing/2014/main" id="{8C139698-8935-4237-9D08-07DB6B3B1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922796"/>
            <a:ext cx="1701053" cy="1061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5">
            <a:extLst>
              <a:ext uri="{FF2B5EF4-FFF2-40B4-BE49-F238E27FC236}">
                <a16:creationId xmlns:a16="http://schemas.microsoft.com/office/drawing/2014/main" id="{8D0E32BB-9F2D-4736-AA1F-A3FD6F876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762000"/>
            <a:ext cx="552273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8.  Find the minimal spanning tree using the algorithm you prefer. Use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	Minneapolis/St. Paul as the source vertex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62061F3-D5CB-14B7-CCAA-BC63841480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600671"/>
              </p:ext>
            </p:extLst>
          </p:nvPr>
        </p:nvGraphicFramePr>
        <p:xfrm>
          <a:off x="554808" y="1981200"/>
          <a:ext cx="5784713" cy="68677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942">
                  <a:extLst>
                    <a:ext uri="{9D8B030D-6E8A-4147-A177-3AD203B41FA5}">
                      <a16:colId xmlns:a16="http://schemas.microsoft.com/office/drawing/2014/main" val="99202957"/>
                    </a:ext>
                  </a:extLst>
                </a:gridCol>
                <a:gridCol w="1072557">
                  <a:extLst>
                    <a:ext uri="{9D8B030D-6E8A-4147-A177-3AD203B41FA5}">
                      <a16:colId xmlns:a16="http://schemas.microsoft.com/office/drawing/2014/main" val="1894560137"/>
                    </a:ext>
                  </a:extLst>
                </a:gridCol>
                <a:gridCol w="994813">
                  <a:extLst>
                    <a:ext uri="{9D8B030D-6E8A-4147-A177-3AD203B41FA5}">
                      <a16:colId xmlns:a16="http://schemas.microsoft.com/office/drawing/2014/main" val="20824276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156296161"/>
                    </a:ext>
                  </a:extLst>
                </a:gridCol>
                <a:gridCol w="2133601">
                  <a:extLst>
                    <a:ext uri="{9D8B030D-6E8A-4147-A177-3AD203B41FA5}">
                      <a16:colId xmlns:a16="http://schemas.microsoft.com/office/drawing/2014/main" val="1001061499"/>
                    </a:ext>
                  </a:extLst>
                </a:gridCol>
              </a:tblGrid>
              <a:tr h="979626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Extract minimum weight edge from </a:t>
                      </a:r>
                      <a:r>
                        <a:rPr lang="en-US" sz="1000" dirty="0" err="1"/>
                        <a:t>priorityQueue</a:t>
                      </a:r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Visited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MST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priorityQueue</a:t>
                      </a:r>
                      <a:r>
                        <a:rPr lang="en-US" sz="1000" dirty="0"/>
                        <a:t> (edge : weight)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4523"/>
                  </a:ext>
                </a:extLst>
              </a:tr>
              <a:tr h="526480">
                <a:tc>
                  <a:txBody>
                    <a:bodyPr/>
                    <a:lstStyle/>
                    <a:p>
                      <a:r>
                        <a:rPr lang="en-US" sz="1000" dirty="0"/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Start: MSP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{MSP}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 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{(MSP, DM): 235), (MSP, Mad): 270}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8482129"/>
                  </a:ext>
                </a:extLst>
              </a:tr>
              <a:tr h="485234">
                <a:tc>
                  <a:txBody>
                    <a:bodyPr/>
                    <a:lstStyle/>
                    <a:p>
                      <a:r>
                        <a:rPr lang="en-US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(MSP, DM): 235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{MSP, DM}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[(MSP, DM, 235)]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{(MSP, Mad): 270), (DM, STL)</a:t>
                      </a:r>
                      <a:r>
                        <a:rPr 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: 320}</a:t>
                      </a:r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870832"/>
                  </a:ext>
                </a:extLst>
              </a:tr>
              <a:tr h="485234">
                <a:tc>
                  <a:txBody>
                    <a:bodyPr/>
                    <a:lstStyle/>
                    <a:p>
                      <a:r>
                        <a:rPr lang="en-US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>
                          <a:effectLst/>
                        </a:rPr>
                        <a:t>(MSP, Mad): 270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>
                          <a:effectLst/>
                        </a:rPr>
                        <a:t>{MSP, DM, Mad}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da-DK" sz="1000">
                          <a:effectLst/>
                        </a:rPr>
                        <a:t>[(MSP, DM, 235), (MSP, Mad, 270)]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da-DK" sz="1000" dirty="0">
                          <a:effectLst/>
                        </a:rPr>
                        <a:t>{(Mad, Mil): 80, (Mad, Chi): 150, (DM, STL): 320}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4192859868"/>
                  </a:ext>
                </a:extLst>
              </a:tr>
              <a:tr h="534341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>
                          <a:effectLst/>
                        </a:rPr>
                        <a:t>3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>
                          <a:effectLst/>
                        </a:rPr>
                        <a:t>(Mad, Mil): 80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>
                          <a:effectLst/>
                        </a:rPr>
                        <a:t>{MSP, DM, Mad, Mil}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da-DK" sz="1000">
                          <a:effectLst/>
                        </a:rPr>
                        <a:t>[(MSP, DM, 235), (MSP, Mad, 270), (Mad, Mil, 80)]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it-IT" sz="1000">
                          <a:effectLst/>
                        </a:rPr>
                        <a:t>{(Mil, Chi): 95, (Mad, Chi): 150, (DM, STL): 320}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976923711"/>
                  </a:ext>
                </a:extLst>
              </a:tr>
              <a:tr h="831198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>
                          <a:effectLst/>
                        </a:rPr>
                        <a:t>4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>
                          <a:effectLst/>
                        </a:rPr>
                        <a:t>(Mil, Chi): 95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da-DK" sz="1000">
                          <a:effectLst/>
                        </a:rPr>
                        <a:t>{MSP, DM, Mad, Mil, Chi}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>
                          <a:effectLst/>
                        </a:rPr>
                        <a:t>[(MSP, DM, 235), (MSP, Mad, 270), (Mad, Mil, 80), (Mil, Chi, 95)]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it-IT" sz="1000">
                          <a:effectLst/>
                        </a:rPr>
                        <a:t>{(Mad, Chi): 150, (Chi, STL): 270, (Chi, Det): 280, (DM, STL): 320}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3965652720"/>
                  </a:ext>
                </a:extLst>
              </a:tr>
              <a:tr h="979626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>
                          <a:effectLst/>
                        </a:rPr>
                        <a:t>5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it-IT" sz="1000">
                          <a:effectLst/>
                        </a:rPr>
                        <a:t>(Mad, Chi): 150 -&gt; Discard (Chi visited)</a:t>
                      </a:r>
                      <a:br>
                        <a:rPr lang="it-IT" sz="1000">
                          <a:effectLst/>
                        </a:rPr>
                      </a:br>
                      <a:r>
                        <a:rPr lang="it-IT" sz="1000" b="0">
                          <a:effectLst/>
                        </a:rPr>
                        <a:t>(Chi, STL): 270</a:t>
                      </a:r>
                      <a:endParaRPr lang="it-IT" sz="1000">
                        <a:effectLst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da-DK" sz="1000">
                          <a:effectLst/>
                        </a:rPr>
                        <a:t>{MSP, DM, Mad, Mil, Chi, STL}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it-IT" sz="1000">
                          <a:effectLst/>
                        </a:rPr>
                        <a:t>[(MSP, DM, 235), (MSP, Mad, 270), (Mad, Mil, 80), (Mil, Chi, 95), (Chi, STL, 270)]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da-DK" sz="1000">
                          <a:effectLst/>
                        </a:rPr>
                        <a:t>{(Chi, Det): 280, (DM, STL): 320}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2595436920"/>
                  </a:ext>
                </a:extLst>
              </a:tr>
              <a:tr h="873423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>
                          <a:effectLst/>
                        </a:rPr>
                        <a:t>Done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da-DK" sz="1000">
                          <a:effectLst/>
                        </a:rPr>
                        <a:t>(Chi, Det): 280</a:t>
                      </a:r>
                      <a:br>
                        <a:rPr lang="da-DK" sz="1000">
                          <a:effectLst/>
                        </a:rPr>
                      </a:br>
                      <a:r>
                        <a:rPr lang="da-DK" sz="1000">
                          <a:effectLst/>
                        </a:rPr>
                        <a:t>(DM, STL): 320 -&gt; Discard (STL visited)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da-DK" sz="1000">
                          <a:effectLst/>
                        </a:rPr>
                        <a:t>{MSP, DM, Mad, Mil, Chi, STL, Det}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 b="0">
                          <a:effectLst/>
                        </a:rPr>
                        <a:t>Final Edges: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(MSP, DM, 235)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(MSP, Mad, 270)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(Mad, Mil, 80)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(Mil, Chi, 95)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(Chi, STL, 270)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(Chi, Det, 280)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 dirty="0">
                          <a:effectLst/>
                        </a:rPr>
                        <a:t>[] (Empty or only edges to visited nodes)</a:t>
                      </a: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671343731"/>
                  </a:ext>
                </a:extLst>
              </a:tr>
              <a:tr h="873423">
                <a:tc>
                  <a:txBody>
                    <a:bodyPr/>
                    <a:lstStyle/>
                    <a:p>
                      <a:pPr algn="l" fontAlgn="base" latinLnBrk="0"/>
                      <a:endParaRPr lang="en-US" sz="1000">
                        <a:effectLst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 b="0">
                          <a:effectLst/>
                        </a:rPr>
                        <a:t>Total weight of MST: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235 + 270 + 80 + 95 + 270 + 280</a:t>
                      </a:r>
                      <a:br>
                        <a:rPr lang="en-US" sz="1000">
                          <a:effectLst/>
                        </a:rPr>
                      </a:br>
                      <a:r>
                        <a:rPr lang="en-US" sz="1000">
                          <a:effectLst/>
                        </a:rPr>
                        <a:t>= </a:t>
                      </a:r>
                      <a:r>
                        <a:rPr lang="en-US" sz="1000" b="0">
                          <a:effectLst/>
                        </a:rPr>
                        <a:t>1230</a:t>
                      </a:r>
                      <a:endParaRPr lang="en-US" sz="1000">
                        <a:effectLst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1000" b="0" dirty="0">
                          <a:effectLst/>
                        </a:rPr>
                        <a:t>all vertices are Visited</a:t>
                      </a:r>
                      <a:endParaRPr lang="en-US" sz="1000" dirty="0">
                        <a:effectLst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endParaRPr lang="en-US" sz="1000">
                        <a:effectLst/>
                      </a:endParaRP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l" fontAlgn="base" latinLnBrk="0"/>
                      <a:endParaRPr lang="en-US" sz="1000" dirty="0">
                        <a:effectLst/>
                      </a:endParaRPr>
                    </a:p>
                  </a:txBody>
                  <a:tcPr marL="60960" marR="60960" anchor="ctr"/>
                </a:tc>
                <a:extLst>
                  <a:ext uri="{0D108BD9-81ED-4DB2-BD59-A6C34878D82A}">
                    <a16:rowId xmlns:a16="http://schemas.microsoft.com/office/drawing/2014/main" val="19048628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87685C2-1A9C-B910-7D28-BF4DA350BD75}"/>
              </a:ext>
            </a:extLst>
          </p:cNvPr>
          <p:cNvSpPr txBox="1"/>
          <p:nvPr/>
        </p:nvSpPr>
        <p:spPr>
          <a:xfrm>
            <a:off x="138953" y="2481111"/>
            <a:ext cx="3429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Screen shot is provided of GitHub repo with Graph Lab 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5">
            <a:extLst>
              <a:ext uri="{FF2B5EF4-FFF2-40B4-BE49-F238E27FC236}">
                <a16:creationId xmlns:a16="http://schemas.microsoft.com/office/drawing/2014/main" id="{80443669-B4DB-4504-ACF5-BCC233134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685800"/>
            <a:ext cx="613821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9. List the nodes of the graph in a breadth first topological ordering.  Show the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     steps using arrays predCount, topologicalOrder and a queue</a:t>
            </a:r>
          </a:p>
        </p:txBody>
      </p:sp>
      <p:sp>
        <p:nvSpPr>
          <p:cNvPr id="5127" name="Rectangle 10">
            <a:extLst>
              <a:ext uri="{FF2B5EF4-FFF2-40B4-BE49-F238E27FC236}">
                <a16:creationId xmlns:a16="http://schemas.microsoft.com/office/drawing/2014/main" id="{C6B0D4E7-088E-4AFF-8702-57CBB2E7E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304800"/>
            <a:ext cx="2571750" cy="228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35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CAFEBF-6A63-4870-9BDF-00EB301F6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524000"/>
            <a:ext cx="3962400" cy="24924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C3F69F-8E5B-EFD2-3116-67D4FB370026}"/>
              </a:ext>
            </a:extLst>
          </p:cNvPr>
          <p:cNvSpPr txBox="1"/>
          <p:nvPr/>
        </p:nvSpPr>
        <p:spPr>
          <a:xfrm>
            <a:off x="533400" y="3429000"/>
            <a:ext cx="175259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Vertices: 0,1,2,3,4,5,6,7,8,9 (V= 10)</a:t>
            </a:r>
          </a:p>
          <a:p>
            <a:endParaRPr lang="en-US" sz="1000" dirty="0"/>
          </a:p>
          <a:p>
            <a:r>
              <a:rPr lang="en-US" sz="1000" dirty="0"/>
              <a:t>Edges: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effectLst/>
                <a:latin typeface="fkGroteskNeue"/>
              </a:rPr>
              <a:t>0 -&gt; 1, 0 -&gt; 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effectLst/>
                <a:latin typeface="fkGroteskNeue"/>
              </a:rPr>
              <a:t>1 -&gt; 2, 1 -&gt; 4, 1 -&gt;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effectLst/>
                <a:latin typeface="fkGroteskNeue"/>
              </a:rPr>
              <a:t>2 -&gt; 4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effectLst/>
                <a:latin typeface="fkGroteskNeue"/>
              </a:rPr>
              <a:t>3 -&gt; 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effectLst/>
                <a:latin typeface="fkGroteskNeue"/>
              </a:rPr>
              <a:t>4 -&gt; 3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effectLst/>
                <a:latin typeface="fkGroteskNeue"/>
              </a:rPr>
              <a:t>5 -&gt; 6, 5 -&gt; 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effectLst/>
                <a:latin typeface="fkGroteskNeue"/>
              </a:rPr>
              <a:t>6 -&gt; 8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effectLst/>
                <a:latin typeface="fkGroteskNeue"/>
              </a:rPr>
              <a:t>7 -&gt; 4, 7 -&gt; 9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000" b="0" i="0" dirty="0">
                <a:effectLst/>
                <a:latin typeface="fkGroteskNeue"/>
              </a:rPr>
              <a:t>8 -&gt; 9</a:t>
            </a:r>
          </a:p>
          <a:p>
            <a:pPr algn="l"/>
            <a:r>
              <a:rPr lang="en-US" sz="1000" b="1" dirty="0">
                <a:latin typeface="fkGroteskNeue"/>
              </a:rPr>
              <a:t>Initial </a:t>
            </a:r>
            <a:r>
              <a:rPr lang="en-US" sz="1000" b="1" dirty="0" err="1">
                <a:latin typeface="fkGroteskNeue"/>
              </a:rPr>
              <a:t>predCount</a:t>
            </a:r>
            <a:r>
              <a:rPr lang="en-US" sz="1000" b="1" dirty="0">
                <a:latin typeface="fkGroteskNeue"/>
              </a:rPr>
              <a:t> (In-degree):</a:t>
            </a:r>
          </a:p>
          <a:p>
            <a:r>
              <a:rPr lang="en-US" sz="1000" b="0" i="0" dirty="0" err="1">
                <a:effectLst/>
                <a:latin typeface="fkGroteskNeue"/>
              </a:rPr>
              <a:t>predCount</a:t>
            </a:r>
            <a:r>
              <a:rPr lang="en-US" sz="1000" b="0" i="0" dirty="0">
                <a:effectLst/>
                <a:latin typeface="fkGroteskNeue"/>
              </a:rPr>
              <a:t> = 0</a:t>
            </a:r>
          </a:p>
          <a:p>
            <a:r>
              <a:rPr lang="en-US" sz="1000" b="0" i="0" dirty="0" err="1">
                <a:effectLst/>
                <a:latin typeface="fkGroteskNeue"/>
              </a:rPr>
              <a:t>predCount</a:t>
            </a:r>
            <a:r>
              <a:rPr lang="en-US" sz="1000" b="0" i="0" dirty="0">
                <a:effectLst/>
                <a:latin typeface="fkGroteskNeue"/>
              </a:rPr>
              <a:t> = 1 =1 (from 0)</a:t>
            </a:r>
          </a:p>
          <a:p>
            <a:r>
              <a:rPr lang="en-US" sz="1000" b="0" i="0" dirty="0" err="1">
                <a:effectLst/>
                <a:latin typeface="fkGroteskNeue"/>
              </a:rPr>
              <a:t>predCount</a:t>
            </a:r>
            <a:r>
              <a:rPr lang="en-US" sz="1000" b="0" i="0" dirty="0">
                <a:effectLst/>
                <a:latin typeface="fkGroteskNeue"/>
              </a:rPr>
              <a:t> = 2 =1 (from 1)</a:t>
            </a:r>
          </a:p>
          <a:p>
            <a:r>
              <a:rPr lang="en-US" sz="1000" b="0" i="0" dirty="0" err="1">
                <a:effectLst/>
                <a:latin typeface="fkGroteskNeue"/>
              </a:rPr>
              <a:t>predCount</a:t>
            </a:r>
            <a:r>
              <a:rPr lang="en-US" sz="1000" b="0" i="0" dirty="0">
                <a:effectLst/>
                <a:latin typeface="fkGroteskNeue"/>
              </a:rPr>
              <a:t> = 3 = 1 (from 4)</a:t>
            </a:r>
          </a:p>
          <a:p>
            <a:r>
              <a:rPr lang="en-US" sz="1000" b="0" i="0" dirty="0" err="1">
                <a:effectLst/>
                <a:latin typeface="fkGroteskNeue"/>
              </a:rPr>
              <a:t>predCount</a:t>
            </a:r>
            <a:r>
              <a:rPr lang="en-US" sz="1000" b="0" i="0" dirty="0">
                <a:effectLst/>
                <a:latin typeface="fkGroteskNeue"/>
              </a:rPr>
              <a:t> = 4 = 3 (from 1,2,7)</a:t>
            </a:r>
          </a:p>
          <a:p>
            <a:r>
              <a:rPr lang="en-US" sz="1000" b="0" i="0" dirty="0" err="1">
                <a:effectLst/>
                <a:latin typeface="fkGroteskNeue"/>
              </a:rPr>
              <a:t>predCount</a:t>
            </a:r>
            <a:r>
              <a:rPr lang="en-US" sz="1000" b="0" i="0" dirty="0">
                <a:effectLst/>
                <a:latin typeface="fkGroteskNeue"/>
              </a:rPr>
              <a:t> = 5 = 1 (from 0)</a:t>
            </a:r>
          </a:p>
          <a:p>
            <a:r>
              <a:rPr lang="en-US" sz="1000" b="0" i="0" dirty="0" err="1">
                <a:effectLst/>
                <a:latin typeface="fkGroteskNeue"/>
              </a:rPr>
              <a:t>predCount</a:t>
            </a:r>
            <a:r>
              <a:rPr lang="en-US" sz="1000" b="0" i="0" dirty="0">
                <a:effectLst/>
                <a:latin typeface="fkGroteskNeue"/>
              </a:rPr>
              <a:t> = 6 = 3 (from 1,3,5)</a:t>
            </a:r>
          </a:p>
          <a:p>
            <a:r>
              <a:rPr lang="en-US" sz="1000" b="0" i="0" dirty="0" err="1">
                <a:effectLst/>
                <a:latin typeface="fkGroteskNeue"/>
              </a:rPr>
              <a:t>predCount</a:t>
            </a:r>
            <a:r>
              <a:rPr lang="en-US" sz="1000" b="0" i="0" dirty="0">
                <a:effectLst/>
                <a:latin typeface="fkGroteskNeue"/>
              </a:rPr>
              <a:t> = 7 = 0</a:t>
            </a:r>
          </a:p>
          <a:p>
            <a:r>
              <a:rPr lang="en-US" sz="1000" b="0" i="0" dirty="0" err="1">
                <a:effectLst/>
                <a:latin typeface="fkGroteskNeue"/>
              </a:rPr>
              <a:t>predCount</a:t>
            </a:r>
            <a:r>
              <a:rPr lang="en-US" sz="1000" b="0" i="0" dirty="0">
                <a:effectLst/>
                <a:latin typeface="fkGroteskNeue"/>
              </a:rPr>
              <a:t> = 8 = 2 (from 5,6)</a:t>
            </a:r>
          </a:p>
          <a:p>
            <a:r>
              <a:rPr lang="en-US" sz="1000" b="0" i="0" dirty="0" err="1">
                <a:effectLst/>
                <a:latin typeface="fkGroteskNeue"/>
              </a:rPr>
              <a:t>predCount</a:t>
            </a:r>
            <a:r>
              <a:rPr lang="en-US" sz="1000" b="0" i="0" dirty="0">
                <a:effectLst/>
                <a:latin typeface="fkGroteskNeue"/>
              </a:rPr>
              <a:t> = 9 =2 (from 7,8)</a:t>
            </a:r>
          </a:p>
          <a:p>
            <a:endParaRPr lang="en-US" sz="1000" dirty="0">
              <a:latin typeface="fkGroteskNeue"/>
            </a:endParaRPr>
          </a:p>
          <a:p>
            <a:endParaRPr lang="en-US" sz="1000" b="1" dirty="0">
              <a:latin typeface="fkGroteskNeue"/>
            </a:endParaRPr>
          </a:p>
          <a:p>
            <a:endParaRPr lang="en-US" sz="1000" b="1" dirty="0">
              <a:latin typeface="fkGroteskNeue"/>
            </a:endParaRPr>
          </a:p>
          <a:p>
            <a:endParaRPr lang="en-US" sz="1000" b="1" dirty="0">
              <a:latin typeface="fkGroteskNeue"/>
            </a:endParaRPr>
          </a:p>
          <a:p>
            <a:endParaRPr lang="en-US" sz="1000" b="1" dirty="0">
              <a:latin typeface="fkGroteskNeue"/>
            </a:endParaRPr>
          </a:p>
          <a:p>
            <a:r>
              <a:rPr lang="en-US" sz="1000" b="1" dirty="0">
                <a:latin typeface="fkGroteskNeue"/>
              </a:rPr>
              <a:t>FINAL </a:t>
            </a:r>
            <a:r>
              <a:rPr lang="en-US" sz="1000" dirty="0">
                <a:latin typeface="fkGroteskNeue"/>
              </a:rPr>
              <a:t>TOPOLOGICAL ORDER:</a:t>
            </a:r>
          </a:p>
          <a:p>
            <a:r>
              <a:rPr lang="en-US" sz="1000" b="1" i="0" dirty="0">
                <a:effectLst/>
                <a:latin typeface="fkGroteskNeue"/>
              </a:rPr>
              <a:t>[7] [1][5][2][4][3][6][8][9]</a:t>
            </a:r>
          </a:p>
          <a:p>
            <a:pPr algn="l"/>
            <a:endParaRPr lang="en-US" sz="1000" b="1" dirty="0">
              <a:latin typeface="fkGrotesk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BCD98E-5872-EA46-DD68-460FA4135433}"/>
              </a:ext>
            </a:extLst>
          </p:cNvPr>
          <p:cNvSpPr txBox="1"/>
          <p:nvPr/>
        </p:nvSpPr>
        <p:spPr>
          <a:xfrm>
            <a:off x="4267200" y="2481697"/>
            <a:ext cx="2146742" cy="577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Initialize Queue: 7 has </a:t>
            </a:r>
            <a:r>
              <a:rPr lang="en-US" sz="1050" dirty="0" err="1"/>
              <a:t>predCount</a:t>
            </a:r>
            <a:r>
              <a:rPr lang="en-US" sz="1050" dirty="0"/>
              <a:t> 0</a:t>
            </a:r>
          </a:p>
          <a:p>
            <a:r>
              <a:rPr lang="en-US" sz="1050" dirty="0"/>
              <a:t>Initialize </a:t>
            </a:r>
            <a:r>
              <a:rPr lang="en-US" sz="1050" dirty="0" err="1"/>
              <a:t>topologicalOrder</a:t>
            </a:r>
            <a:r>
              <a:rPr lang="en-US" sz="1050" dirty="0"/>
              <a:t> array: [ ] </a:t>
            </a:r>
          </a:p>
          <a:p>
            <a:r>
              <a:rPr lang="en-US" sz="1050" dirty="0"/>
              <a:t>Initialize </a:t>
            </a:r>
            <a:r>
              <a:rPr lang="en-US" sz="1050" dirty="0" err="1"/>
              <a:t>orderIndex</a:t>
            </a:r>
            <a:r>
              <a:rPr lang="en-US" sz="1050" dirty="0"/>
              <a:t>: 0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286188-66CD-4BBC-C28D-8932F0821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849838"/>
              </p:ext>
            </p:extLst>
          </p:nvPr>
        </p:nvGraphicFramePr>
        <p:xfrm>
          <a:off x="2326340" y="3856717"/>
          <a:ext cx="3845860" cy="4457012"/>
        </p:xfrm>
        <a:graphic>
          <a:graphicData uri="http://schemas.openxmlformats.org/drawingml/2006/table">
            <a:tbl>
              <a:tblPr/>
              <a:tblGrid>
                <a:gridCol w="769172">
                  <a:extLst>
                    <a:ext uri="{9D8B030D-6E8A-4147-A177-3AD203B41FA5}">
                      <a16:colId xmlns:a16="http://schemas.microsoft.com/office/drawing/2014/main" val="3069038403"/>
                    </a:ext>
                  </a:extLst>
                </a:gridCol>
                <a:gridCol w="769172">
                  <a:extLst>
                    <a:ext uri="{9D8B030D-6E8A-4147-A177-3AD203B41FA5}">
                      <a16:colId xmlns:a16="http://schemas.microsoft.com/office/drawing/2014/main" val="1306731682"/>
                    </a:ext>
                  </a:extLst>
                </a:gridCol>
                <a:gridCol w="769172">
                  <a:extLst>
                    <a:ext uri="{9D8B030D-6E8A-4147-A177-3AD203B41FA5}">
                      <a16:colId xmlns:a16="http://schemas.microsoft.com/office/drawing/2014/main" val="3896285527"/>
                    </a:ext>
                  </a:extLst>
                </a:gridCol>
                <a:gridCol w="769172">
                  <a:extLst>
                    <a:ext uri="{9D8B030D-6E8A-4147-A177-3AD203B41FA5}">
                      <a16:colId xmlns:a16="http://schemas.microsoft.com/office/drawing/2014/main" val="1238659373"/>
                    </a:ext>
                  </a:extLst>
                </a:gridCol>
                <a:gridCol w="769172">
                  <a:extLst>
                    <a:ext uri="{9D8B030D-6E8A-4147-A177-3AD203B41FA5}">
                      <a16:colId xmlns:a16="http://schemas.microsoft.com/office/drawing/2014/main" val="4032452960"/>
                    </a:ext>
                  </a:extLst>
                </a:gridCol>
              </a:tblGrid>
              <a:tr h="453922"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600" b="0">
                          <a:effectLst/>
                        </a:rPr>
                        <a:t>Step</a:t>
                      </a:r>
                    </a:p>
                  </a:txBody>
                  <a:tcPr marL="19217" marR="19217" marT="19217" marB="19217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600" b="0">
                          <a:effectLst/>
                        </a:rPr>
                        <a:t>Action</a:t>
                      </a:r>
                    </a:p>
                  </a:txBody>
                  <a:tcPr marL="19217" marR="19217" marT="19217" marB="19217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600" b="0">
                          <a:effectLst/>
                        </a:rPr>
                        <a:t>Queue</a:t>
                      </a:r>
                    </a:p>
                  </a:txBody>
                  <a:tcPr marL="19217" marR="19217" marT="19217" marB="19217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600" b="0">
                          <a:effectLst/>
                        </a:rPr>
                        <a:t>predCount Array</a:t>
                      </a:r>
                    </a:p>
                  </a:txBody>
                  <a:tcPr marL="19217" marR="19217" marT="19217" marB="19217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600" b="0">
                          <a:effectLst/>
                        </a:rPr>
                        <a:t>topologicalOrder Array (Up to orderIndex)</a:t>
                      </a:r>
                    </a:p>
                  </a:txBody>
                  <a:tcPr marL="19217" marR="19217" marT="19217" marB="19217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809998"/>
                  </a:ext>
                </a:extLst>
              </a:tr>
              <a:tr h="23439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0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 b="0">
                          <a:effectLst/>
                        </a:rPr>
                        <a:t>Initial</a:t>
                      </a:r>
                      <a:endParaRPr lang="en-US" sz="600">
                        <a:effectLst/>
                      </a:endParaRP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[1][1][1][3][1][3][2][2]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5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8603910"/>
                  </a:ext>
                </a:extLst>
              </a:tr>
              <a:tr h="23439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1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Dequeue 0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[1][1][1][3][1][3][2][2]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``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747446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endParaRPr lang="en-US" sz="600">
                        <a:effectLst/>
                      </a:endParaRP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Neighbors 1,5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[1][1][3][3][2][2]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``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7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0029796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2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Dequeue 7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[1][5]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[1][1][3][3][2][2]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844829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endParaRPr lang="en-US" sz="600">
                        <a:effectLst/>
                      </a:endParaRP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Neighbors 4,9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[1][5]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[1][1][2][3][2][1]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D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7138715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3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Dequeue 1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[5]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[1][1][2][3][2][1]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5939307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endParaRPr lang="en-US" sz="600">
                        <a:effectLst/>
                      </a:endParaRP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Neighbors 2,4,6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[5][2]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[1][1][2][2][1]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D1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3421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4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Dequeue 5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[2]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[1][1][2][2][1]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FE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98407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endParaRPr lang="en-US" sz="600">
                        <a:effectLst/>
                      </a:endParaRP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Neighbors 6,8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[2]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[1][1][1][1][1]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07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250130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5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Dequeue 2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[1][1][1][1][1]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[7][1][5][2]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2A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3510813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endParaRPr lang="en-US" sz="600">
                        <a:effectLst/>
                      </a:endParaRP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Neighbor 4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[4]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[1][1][1][1]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[7][1][5][2]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36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369123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6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Dequeue 4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[1][1][1][1]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[7][1][5][2][4]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4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0293924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endParaRPr lang="en-US" sz="600">
                        <a:effectLst/>
                      </a:endParaRP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Neighbor 3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[3]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[7][1][5][2][4]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5C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533660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7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Dequeue 3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[7][1][5][2][4][3]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6E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8600689"/>
                  </a:ext>
                </a:extLst>
              </a:tr>
              <a:tr h="163690">
                <a:tc>
                  <a:txBody>
                    <a:bodyPr/>
                    <a:lstStyle/>
                    <a:p>
                      <a:pPr algn="l" fontAlgn="base" latinLnBrk="0"/>
                      <a:endParaRPr lang="en-US" sz="600">
                        <a:effectLst/>
                      </a:endParaRP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Neighbor 6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[6]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[7][1][5][2][4][3]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75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428606"/>
                  </a:ext>
                </a:extLst>
              </a:tr>
              <a:tr h="23439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8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Dequeue 6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[7][1][5][2][4][3][6]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09F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670324"/>
                  </a:ext>
                </a:extLst>
              </a:tr>
              <a:tr h="234390">
                <a:tc>
                  <a:txBody>
                    <a:bodyPr/>
                    <a:lstStyle/>
                    <a:p>
                      <a:pPr algn="l" fontAlgn="base" latinLnBrk="0"/>
                      <a:endParaRPr lang="en-US" sz="600">
                        <a:effectLst/>
                      </a:endParaRP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Neighbor 8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[8]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[7][1][5][2][4][3][6]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B11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569819"/>
                  </a:ext>
                </a:extLst>
              </a:tr>
              <a:tr h="23439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9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Dequeue 8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[1]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[7][1][5][2][4][3][6][8]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B1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027309"/>
                  </a:ext>
                </a:extLst>
              </a:tr>
              <a:tr h="234390">
                <a:tc>
                  <a:txBody>
                    <a:bodyPr/>
                    <a:lstStyle/>
                    <a:p>
                      <a:pPr algn="l" fontAlgn="base" latinLnBrk="0"/>
                      <a:endParaRPr lang="en-US" sz="600">
                        <a:effectLst/>
                      </a:endParaRP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Neighbor 9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[9]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``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[7][1][5][2][4][3][6][8]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AC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665231"/>
                  </a:ext>
                </a:extLst>
              </a:tr>
              <a:tr h="234390"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10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Dequeue 9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``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[7][1][5][2][4][3][6][8][9]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0C7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2222999"/>
                  </a:ext>
                </a:extLst>
              </a:tr>
              <a:tr h="234390">
                <a:tc>
                  <a:txBody>
                    <a:bodyPr/>
                    <a:lstStyle/>
                    <a:p>
                      <a:pPr algn="l" fontAlgn="base" latinLnBrk="0"/>
                      <a:endParaRPr lang="en-US" sz="600">
                        <a:effectLst/>
                      </a:endParaRP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No Neighbors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[]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>
                          <a:effectLst/>
                        </a:rPr>
                        <a:t>``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 latinLnBrk="0"/>
                      <a:r>
                        <a:rPr lang="en-US" sz="600" dirty="0">
                          <a:effectLst/>
                        </a:rPr>
                        <a:t>[7][1][5][2][4][3][6][8][9]</a:t>
                      </a:r>
                    </a:p>
                  </a:txBody>
                  <a:tcPr marL="19217" marR="19217" marT="14413" marB="14413" anchor="ctr">
                    <a:lnL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0D8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007668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4" descr="08">
            <a:extLst>
              <a:ext uri="{FF2B5EF4-FFF2-40B4-BE49-F238E27FC236}">
                <a16:creationId xmlns:a16="http://schemas.microsoft.com/office/drawing/2014/main" id="{9FE784F9-D9A7-4F7B-AD49-6C3E9EEF2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219200"/>
            <a:ext cx="57150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7" name="Rectangle 5">
            <a:extLst>
              <a:ext uri="{FF2B5EF4-FFF2-40B4-BE49-F238E27FC236}">
                <a16:creationId xmlns:a16="http://schemas.microsoft.com/office/drawing/2014/main" id="{FF2496EF-C9B8-49EF-A543-7502752ACE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5416868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350" dirty="0"/>
              <a:t>10. List the nodes of the graph in a breadth first topological ordering.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55CCA6-2908-B696-D86C-3ED4914604CC}"/>
              </a:ext>
            </a:extLst>
          </p:cNvPr>
          <p:cNvSpPr txBox="1"/>
          <p:nvPr/>
        </p:nvSpPr>
        <p:spPr>
          <a:xfrm>
            <a:off x="838200" y="4495800"/>
            <a:ext cx="5181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1" dirty="0">
                <a:solidFill>
                  <a:srgbClr val="8E908C"/>
                </a:solidFill>
                <a:effectLst/>
                <a:latin typeface="berkeleyMono"/>
              </a:rPr>
              <a:t>Start, Discrete Math, Programming 1, Programming 2, Computer Organization, Algorithms, High-Level Languages, Operating Systems, Theory of Computation, Compilers, Senior Seminar, End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964</TotalTime>
  <Words>2192</Words>
  <Application>Microsoft Office PowerPoint</Application>
  <PresentationFormat>On-screen Show (4:3)</PresentationFormat>
  <Paragraphs>357</Paragraphs>
  <Slides>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berkeleyMono</vt:lpstr>
      <vt:lpstr>fkGroteskNeue</vt:lpstr>
      <vt:lpstr>Times New Roman</vt:lpstr>
      <vt:lpstr>Default Design</vt:lpstr>
      <vt:lpstr>Microsoft Word 97 - 2003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Joe Wisniewski</dc:creator>
  <cp:lastModifiedBy>eponina eemi</cp:lastModifiedBy>
  <cp:revision>19</cp:revision>
  <cp:lastPrinted>2018-11-12T14:09:18Z</cp:lastPrinted>
  <dcterms:created xsi:type="dcterms:W3CDTF">2003-11-20T06:12:01Z</dcterms:created>
  <dcterms:modified xsi:type="dcterms:W3CDTF">2025-04-14T03:42:15Z</dcterms:modified>
</cp:coreProperties>
</file>